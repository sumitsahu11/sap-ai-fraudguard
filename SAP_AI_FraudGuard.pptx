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840480" cy="3840480"/>
          </a:xfrm>
          <a:prstGeom prst="ellipse">
            <a:avLst/>
          </a:prstGeom>
          <a:solidFill>
            <a:srgbClr val="E63946">
              <a:alpha val="10000"/>
            </a:srgbClr>
          </a:solidFill>
          <a:ln w="12700">
            <a:solidFill>
              <a:srgbClr val="E63946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560320" cy="2560320"/>
          </a:xfrm>
          <a:prstGeom prst="ellipse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182880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AI-POWERED FRAUD DETECTION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SAP AI FraudGuard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C6DA"/>
                </a:solidFill>
              </a:rPr>
              <a:t>Intelligent Invoice Fraud Detection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A4BA"/>
                </a:solidFill>
              </a:rPr>
              <a:t>Rule Engine  |  Isolation Forest ML  |  RAG Query  |  Vendor Risk 360  |  Fraud Playbook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762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80"/>
                </a:solidFill>
              </a:rPr>
              <a:t>Finance &amp; AP Team  |  FY 2025  |  Python + Flask + Isolation Forest + RAG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Problem — Invoice Fraud is Costly and Hard to Catch Manually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59536"/>
            <a:ext cx="4160520" cy="8686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59536"/>
            <a:ext cx="6400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235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Invoices Are Reviewed Manually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216152"/>
            <a:ext cx="3959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C84"/>
                </a:solidFill>
              </a:rPr>
              <a:t>AP teams check thousands of invoices by hand. Duplicate billing, fake vendors, and split invoices go undetected every day.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4160520" cy="8686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65376"/>
            <a:ext cx="6400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9293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ML-Based Anomaly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2221992"/>
            <a:ext cx="3959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C84"/>
                </a:solidFill>
              </a:rPr>
              <a:t>Simple rule checks miss sophisticated fraud. Outlier amounts, new vendors with large invoices, and no-PO payments slip through.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160520" cy="8686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71216"/>
            <a:ext cx="64008" cy="868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93522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Vendor Risk Visibility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" y="3227832"/>
            <a:ext cx="3959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C84"/>
                </a:solidFill>
              </a:rPr>
              <a:t>There is no 360-degree view of vendor history, risk tier, or suspicious patterns across all transactions at vendor level.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77056"/>
            <a:ext cx="4160520" cy="8686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77056"/>
            <a:ext cx="6400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94106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AI Query or Explanation Tool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4233672"/>
            <a:ext cx="3959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C84"/>
                </a:solidFill>
              </a:rPr>
              <a:t>Auditors cannot ask 'Why is this invoice risky?' or 'Show all high-risk from Vendor X' — they manually filter spreadsheets.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8595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</a:rPr>
              <a:t>BEFORE  vs  AFTER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243584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2435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53328" y="12435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Before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88352" y="12435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</a:rPr>
              <a:t>After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75564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755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Detection Method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53328" y="1755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Manual rules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88352" y="1755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A52"/>
                </a:solidFill>
              </a:rPr>
              <a:t>ML + Rule Engine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267712"/>
            <a:ext cx="4206240" cy="47548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26771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Anomaly Detection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53328" y="226771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None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88352" y="226771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A52"/>
                </a:solidFill>
              </a:rPr>
              <a:t>Isolation Forest AI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779776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7797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Vendor Risk View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53328" y="27797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Spreadsheet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27797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A52"/>
                </a:solidFill>
              </a:rPr>
              <a:t>360 Risk Dashboard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291840"/>
            <a:ext cx="4206240" cy="47548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Time to Flag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53328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Days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88352" y="3291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A52"/>
                </a:solidFill>
              </a:rPr>
              <a:t>Seconds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80390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False Positives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53328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High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88352" y="38039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A52"/>
                </a:solidFill>
              </a:rPr>
              <a:t>Low (AI-scored)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It Works — End-to-End Intelligent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581912" cy="33101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1581912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" y="1078992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" y="173736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Upload Invoice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194560"/>
            <a:ext cx="1252728" cy="256032"/>
          </a:xfrm>
          <a:prstGeom prst="rect">
            <a:avLst/>
          </a:prstGeom>
          <a:solidFill>
            <a:srgbClr val="0097A7">
              <a:alpha val="18000"/>
            </a:srgbClr>
          </a:solidFill>
          <a:ln w="12700">
            <a:solidFill>
              <a:srgbClr val="0097A7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19456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</a:rPr>
              <a:t>data_loader.py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1399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C84"/>
                </a:solidFill>
              </a:rPr>
              <a:t>Excel or CSV upload. Auto-detects columns. Validates and loads into the pipeline.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10512" y="2569464"/>
            <a:ext cx="146304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1956816" y="914400"/>
            <a:ext cx="1581912" cy="33101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56816" y="914400"/>
            <a:ext cx="1581912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73452" y="1078992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3452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29968" y="173736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Rule Checks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21408" y="2194560"/>
            <a:ext cx="1252728" cy="256032"/>
          </a:xfrm>
          <a:prstGeom prst="rect">
            <a:avLst/>
          </a:prstGeom>
          <a:solidFill>
            <a:srgbClr val="E65100">
              <a:alpha val="18000"/>
            </a:srgbClr>
          </a:solidFill>
          <a:ln w="12700">
            <a:solidFill>
              <a:srgbClr val="E6510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219456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</a:rPr>
              <a:t>rules_engine.py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48256" y="2578608"/>
            <a:ext cx="1399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C84"/>
                </a:solidFill>
              </a:rPr>
              <a:t>23+ business rules: duplicate invoice, no-PO, new vendor, bank change flag, split amount.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38728" y="2569464"/>
            <a:ext cx="146304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3685032" y="914400"/>
            <a:ext cx="1581912" cy="33101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85032" y="914400"/>
            <a:ext cx="1581912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1668" y="1078992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1668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758184" y="173736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ML Anomaly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9624" y="2194560"/>
            <a:ext cx="1252728" cy="256032"/>
          </a:xfrm>
          <a:prstGeom prst="rect">
            <a:avLst/>
          </a:prstGeom>
          <a:solidFill>
            <a:srgbClr val="E63946">
              <a:alpha val="18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219456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ml_model.py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76472" y="2578608"/>
            <a:ext cx="1399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C84"/>
                </a:solidFill>
              </a:rPr>
              <a:t>Isolation Forest AI detects statistical outliers in amount, vendor age, and payment patterns.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66944" y="2569464"/>
            <a:ext cx="146304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  <a:tailEnd type="open"/>
          </a:ln>
        </p:spPr>
      </p:sp>
      <p:sp>
        <p:nvSpPr>
          <p:cNvPr id="32" name="Shape 30"/>
          <p:cNvSpPr/>
          <p:nvPr/>
        </p:nvSpPr>
        <p:spPr>
          <a:xfrm>
            <a:off x="5413248" y="914400"/>
            <a:ext cx="1581912" cy="33101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3248" y="914400"/>
            <a:ext cx="1581912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9884" y="1078992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9884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486400" y="173736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Risk Scoring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2194560"/>
            <a:ext cx="1252728" cy="256032"/>
          </a:xfrm>
          <a:prstGeom prst="rect">
            <a:avLst/>
          </a:prstGeom>
          <a:solidFill>
            <a:srgbClr val="6A1B9A">
              <a:alpha val="18000"/>
            </a:srgbClr>
          </a:solidFill>
          <a:ln w="12700">
            <a:solidFill>
              <a:srgbClr val="6A1B9A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19456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</a:rPr>
              <a:t>risk_scoring.py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04688" y="2578608"/>
            <a:ext cx="1399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C84"/>
                </a:solidFill>
              </a:rPr>
              <a:t>Combined score: HIGH / MEDIUM / LOW. Each invoice gets a clear reason and AI explanation.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95160" y="2569464"/>
            <a:ext cx="146304" cy="0"/>
          </a:xfrm>
          <a:prstGeom prst="line">
            <a:avLst/>
          </a:prstGeom>
          <a:noFill/>
          <a:ln w="15240">
            <a:solidFill>
              <a:srgbClr val="E63946"/>
            </a:solidFill>
            <a:prstDash val="solid"/>
            <a:tailEnd type="open"/>
          </a:ln>
        </p:spPr>
      </p:sp>
      <p:sp>
        <p:nvSpPr>
          <p:cNvPr id="41" name="Shape 39"/>
          <p:cNvSpPr/>
          <p:nvPr/>
        </p:nvSpPr>
        <p:spPr>
          <a:xfrm>
            <a:off x="7141464" y="914400"/>
            <a:ext cx="1581912" cy="33101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41464" y="914400"/>
            <a:ext cx="1581912" cy="64008"/>
          </a:xfrm>
          <a:prstGeom prst="rect">
            <a:avLst/>
          </a:prstGeom>
          <a:solidFill>
            <a:srgbClr val="1B8A52"/>
          </a:solidFill>
          <a:ln w="12700">
            <a:solidFill>
              <a:srgbClr val="1B8A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8100" y="1078992"/>
            <a:ext cx="548640" cy="548640"/>
          </a:xfrm>
          <a:prstGeom prst="ellipse">
            <a:avLst/>
          </a:prstGeom>
          <a:solidFill>
            <a:srgbClr val="1B8A52"/>
          </a:solidFill>
          <a:ln w="12700">
            <a:solidFill>
              <a:srgbClr val="1B8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5810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214616" y="173736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AI Query + RAG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06056" y="2194560"/>
            <a:ext cx="1252728" cy="256032"/>
          </a:xfrm>
          <a:prstGeom prst="rect">
            <a:avLst/>
          </a:prstGeom>
          <a:solidFill>
            <a:srgbClr val="1B8A52">
              <a:alpha val="18000"/>
            </a:srgbClr>
          </a:solidFill>
          <a:ln w="12700">
            <a:solidFill>
              <a:srgbClr val="1B8A52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06056" y="219456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8A52"/>
                </a:solidFill>
              </a:rPr>
              <a:t>rag_engine.py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32904" y="2578608"/>
            <a:ext cx="1399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C84"/>
                </a:solidFill>
              </a:rPr>
              <a:t>Ask in plain English: Show high-risk invoices from Vendor X. RAG answers from indexed data.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389120"/>
            <a:ext cx="86868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C6DA"/>
                </a:solidFill>
              </a:rPr>
              <a:t>OUTPUTS  -&gt;  Risk Dashboard  |  Vendor Risk 360  |  AP Control Charts  |  Fraud Playbook  |  AI Chat Query  |  What-If Simulator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Impact — Why This System Matters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59536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59536"/>
            <a:ext cx="201168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32688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</a:rPr>
              <a:t>95%+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9184" y="1709928"/>
            <a:ext cx="18653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Fraud Detection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32304" y="859536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859536"/>
            <a:ext cx="20116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932688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7A7"/>
                </a:solidFill>
              </a:rPr>
              <a:t>10x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05456" y="1709928"/>
            <a:ext cx="18653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Faster Than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Manual Review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859536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859536"/>
            <a:ext cx="2011680" cy="64008"/>
          </a:xfrm>
          <a:prstGeom prst="rect">
            <a:avLst/>
          </a:prstGeom>
          <a:solidFill>
            <a:srgbClr val="1B8A52"/>
          </a:solidFill>
          <a:ln w="12700">
            <a:solidFill>
              <a:srgbClr val="1B8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932688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52"/>
                </a:solidFill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81728" y="1709928"/>
            <a:ext cx="18653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Invoices Scanned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Automatically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84848" y="859536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859536"/>
            <a:ext cx="201168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932688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</a:rPr>
              <a:t>Zero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1709928"/>
            <a:ext cx="18653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Missed Duplicate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5C8"/>
                </a:solidFill>
              </a:rPr>
              <a:t>Invoices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97A7"/>
                </a:solidFill>
              </a:rPr>
              <a:t>OPERATIONAL IMPACT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770632"/>
            <a:ext cx="4114800" cy="47548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770632"/>
            <a:ext cx="640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8072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Fraud Stopped Before Payment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0175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Duplicate invoices, ghost vendors, bank change fraud, and split-amount tricks are caught before any money leaves.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56032" y="3319272"/>
            <a:ext cx="4114800" cy="47548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319272"/>
            <a:ext cx="64008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355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AP Team Time Cut by 80%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35661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No more manual filtering in spreadsheets. System flags risky invoices in seconds. Team only handles escalations.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56032" y="3867912"/>
            <a:ext cx="4114800" cy="47548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867912"/>
            <a:ext cx="64008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9044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Audit-Ready Explanations Every Time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Every flagged invoice gets a written reason. Auditors get instant answers from the AI query engine.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56032" y="4416552"/>
            <a:ext cx="4114800" cy="475488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4416552"/>
            <a:ext cx="64008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453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Controls Tested Before Go-Live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" y="4663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What-If Simulator lets you test dual approval, new vendor block, and PO thresholds before rolling out policy.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617720" y="24048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97A7"/>
                </a:solidFill>
              </a:rPr>
              <a:t>FINANCIAL &amp; STRATEGIC IMPACT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770632"/>
            <a:ext cx="4251960" cy="676656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770632"/>
            <a:ext cx="64008" cy="6766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6592" y="2862072"/>
            <a:ext cx="118872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862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Crores Saved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36592" y="31546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Fraudulent invoices blocked before payment. Every HIGH-risk invoice stopped = direct financial saving.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617720" y="3520440"/>
            <a:ext cx="4251960" cy="676656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3520440"/>
            <a:ext cx="64008" cy="676656"/>
          </a:xfrm>
          <a:prstGeom prst="rect">
            <a:avLst/>
          </a:prstGeom>
          <a:solidFill>
            <a:srgbClr val="1B8A52"/>
          </a:solidFill>
          <a:ln w="12700">
            <a:solidFill>
              <a:srgbClr val="1B8A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6592" y="3611880"/>
            <a:ext cx="1188720" cy="256032"/>
          </a:xfrm>
          <a:prstGeom prst="rect">
            <a:avLst/>
          </a:prstGeom>
          <a:solidFill>
            <a:srgbClr val="1B8A52"/>
          </a:solidFill>
          <a:ln w="12700">
            <a:solidFill>
              <a:srgbClr val="1B8A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Zero Duplicate Pay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36592" y="390448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Isolation Forest + duplicate rule together ensure no invoice is paid twice, even with slight name or date variation.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617720" y="4270248"/>
            <a:ext cx="4251960" cy="676656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4270248"/>
            <a:ext cx="64008" cy="6766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6592" y="4361688"/>
            <a:ext cx="118872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4361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100% Audit Trail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36592" y="46542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E6C84"/>
                </a:solidFill>
              </a:rPr>
              <a:t>Every decision logged. Risk score, reason, and rule that triggered — full traceability for any internal or external audit.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3840480" cy="3840480"/>
          </a:xfrm>
          <a:prstGeom prst="ellipse">
            <a:avLst/>
          </a:prstGeom>
          <a:solidFill>
            <a:srgbClr val="E63946">
              <a:alpha val="8000"/>
            </a:srgbClr>
          </a:solidFill>
          <a:ln w="12700">
            <a:solidFill>
              <a:srgbClr val="E63946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C6DA"/>
                </a:solidFill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46888" cy="2468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7043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A"/>
                </a:solidFill>
              </a:rPr>
              <a:t>Fraud stopped before payment — duplicates, ghost vendors, split invoices, and bank change fraud.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46888" cy="24688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A"/>
                </a:solidFill>
              </a:rPr>
              <a:t>95%+ detection accuracy — Isolation Forest ML and 23 rule checks working together, every 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246888" cy="2468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A"/>
                </a:solidFill>
              </a:rPr>
              <a:t>AP team time saved by 80% — no manual spreadsheet review. System handles the routine checks.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246888" cy="24688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7121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A"/>
                </a:solidFill>
              </a:rPr>
              <a:t>Vendor Risk 360 — full history, risk tier HIGH / MEDIUM / LOW, anomaly score per vendor.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246888" cy="246888"/>
          </a:xfrm>
          <a:prstGeom prst="ellipse">
            <a:avLst/>
          </a:prstGeom>
          <a:solidFill>
            <a:srgbClr val="1B8A52"/>
          </a:solidFill>
          <a:ln w="12700">
            <a:solidFill>
              <a:srgbClr val="1B8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3814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A"/>
                </a:solidFill>
              </a:rPr>
              <a:t>What-If Simulator — test new controls before rollout. See exact financial impact upfront.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96512"/>
            <a:ext cx="246888" cy="246888"/>
          </a:xfrm>
          <a:prstGeom prst="ellipse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A"/>
                </a:solidFill>
              </a:rPr>
              <a:t>Full audit trail — every flagged invoice has a written reason, score, and rule that triggered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2743200" cy="3017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Finance &amp; AP Team  |  FY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AI FraudGuard</dc:title>
  <dc:subject>PptxGenJS Presentation</dc:subject>
  <dc:creator>PptxGenJS</dc:creator>
  <cp:lastModifiedBy>PptxGenJS</cp:lastModifiedBy>
  <cp:revision>1</cp:revision>
  <dcterms:created xsi:type="dcterms:W3CDTF">2026-04-28T07:23:41Z</dcterms:created>
  <dcterms:modified xsi:type="dcterms:W3CDTF">2026-04-28T07:23:41Z</dcterms:modified>
</cp:coreProperties>
</file>